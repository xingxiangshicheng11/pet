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欢迎各位来到紫薯书法大成的庆祝会。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墨池和笔冢的典故，体现了书法艺术的深厚积淀。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让我们用这些美好的词句祝贺紫薯。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回顾紫薯的书法之路。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祝愿紫薯在书法道路上越走越远。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60000">
                <a:srgbClr val="EDE4D4"/>
              </a:gs>
              <a:gs pos="100000">
                <a:srgbClr val="D4C5A9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2857500"/>
            <a:ext cx="12192000" cy="4000500"/>
            <a:chOff x="0" y="2857500"/>
            <a:chExt cx="12192000" cy="4000500"/>
          </a:xfrm>
        </p:grpSpPr>
        <p:sp>
          <p:nvSpPr>
            <p:cNvPr id="3" name="Freeform 3"/>
            <p:cNvSpPr/>
            <p:nvPr/>
          </p:nvSpPr>
          <p:spPr>
            <a:xfrm>
              <a:off x="0" y="2857500"/>
              <a:ext cx="12192000" cy="4000500"/>
            </a:xfrm>
            <a:custGeom>
              <a:avLst/>
              <a:gdLst/>
              <a:ahLst/>
              <a:cxnLst/>
              <a:rect l="l" t="t" r="r" b="b"/>
              <a:pathLst>
                <a:path w="12192000" h="4000500">
                  <a:moveTo>
                    <a:pt x="0" y="4000500"/>
                  </a:moveTo>
                  <a:lnTo>
                    <a:pt x="1905000" y="952500"/>
                  </a:lnTo>
                  <a:lnTo>
                    <a:pt x="3333750" y="1905000"/>
                  </a:lnTo>
                  <a:lnTo>
                    <a:pt x="4762500" y="476250"/>
                  </a:lnTo>
                  <a:lnTo>
                    <a:pt x="6191250" y="1714500"/>
                  </a:lnTo>
                  <a:lnTo>
                    <a:pt x="7620000" y="0"/>
                  </a:lnTo>
                  <a:lnTo>
                    <a:pt x="9048750" y="1428750"/>
                  </a:lnTo>
                  <a:lnTo>
                    <a:pt x="10477500" y="190500"/>
                  </a:lnTo>
                  <a:lnTo>
                    <a:pt x="12192000" y="1143000"/>
                  </a:lnTo>
                  <a:lnTo>
                    <a:pt x="12192000" y="4000500"/>
                  </a:lnTo>
                  <a:close/>
                </a:path>
              </a:pathLst>
            </a:custGeom>
            <a:gradFill>
              <a:gsLst>
                <a:gs pos="0">
                  <a:srgbClr val="4A3728">
                    <a:alpha val="12000"/>
                  </a:srgbClr>
                </a:gs>
                <a:gs pos="100000">
                  <a:srgbClr val="6B5B4E">
                    <a:alpha val="3599"/>
                  </a:srgbClr>
                </a:gs>
              </a:gsLst>
              <a:lin ang="17793903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3619500"/>
              <a:ext cx="12192000" cy="3238500"/>
            </a:xfrm>
            <a:custGeom>
              <a:avLst/>
              <a:gdLst/>
              <a:ahLst/>
              <a:cxnLst/>
              <a:rect l="l" t="t" r="r" b="b"/>
              <a:pathLst>
                <a:path w="12192000" h="3238500">
                  <a:moveTo>
                    <a:pt x="0" y="3238500"/>
                  </a:moveTo>
                  <a:lnTo>
                    <a:pt x="1428750" y="1143000"/>
                  </a:lnTo>
                  <a:lnTo>
                    <a:pt x="2857500" y="381000"/>
                  </a:lnTo>
                  <a:lnTo>
                    <a:pt x="4286250" y="1619250"/>
                  </a:lnTo>
                  <a:lnTo>
                    <a:pt x="5715000" y="190500"/>
                  </a:lnTo>
                  <a:lnTo>
                    <a:pt x="7143750" y="1333500"/>
                  </a:lnTo>
                  <a:lnTo>
                    <a:pt x="8572500" y="0"/>
                  </a:lnTo>
                  <a:lnTo>
                    <a:pt x="10001250" y="1143000"/>
                  </a:lnTo>
                  <a:lnTo>
                    <a:pt x="11430000" y="285750"/>
                  </a:lnTo>
                  <a:lnTo>
                    <a:pt x="12192000" y="1143000"/>
                  </a:lnTo>
                  <a:lnTo>
                    <a:pt x="12192000" y="3238500"/>
                  </a:lnTo>
                  <a:close/>
                </a:path>
              </a:pathLst>
            </a:custGeom>
            <a:gradFill>
              <a:gsLst>
                <a:gs pos="0">
                  <a:srgbClr val="5C4A3A">
                    <a:alpha val="12000"/>
                  </a:srgbClr>
                </a:gs>
                <a:gs pos="100000">
                  <a:srgbClr val="8B7D6E">
                    <a:alpha val="2400"/>
                  </a:srgbClr>
                </a:gs>
              </a:gsLst>
              <a:lin ang="17508084" scaled="1"/>
            </a:gra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952500" y="5334000"/>
              <a:ext cx="11239500" cy="1524000"/>
            </a:xfrm>
            <a:custGeom>
              <a:avLst/>
              <a:gdLst/>
              <a:ahLst/>
              <a:cxnLst/>
              <a:rect l="l" t="t" r="r" b="b"/>
              <a:pathLst>
                <a:path w="11239500" h="1524000">
                  <a:moveTo>
                    <a:pt x="0" y="1524000"/>
                  </a:moveTo>
                  <a:lnTo>
                    <a:pt x="1428750" y="381000"/>
                  </a:lnTo>
                  <a:lnTo>
                    <a:pt x="2857500" y="857250"/>
                  </a:lnTo>
                  <a:lnTo>
                    <a:pt x="4286250" y="190500"/>
                  </a:lnTo>
                  <a:lnTo>
                    <a:pt x="5715000" y="571500"/>
                  </a:lnTo>
                  <a:lnTo>
                    <a:pt x="7143750" y="0"/>
                  </a:lnTo>
                  <a:lnTo>
                    <a:pt x="8572500" y="476250"/>
                  </a:lnTo>
                  <a:lnTo>
                    <a:pt x="10001250" y="95250"/>
                  </a:lnTo>
                  <a:lnTo>
                    <a:pt x="11239500" y="571500"/>
                  </a:lnTo>
                  <a:lnTo>
                    <a:pt x="11239500" y="1524000"/>
                  </a:lnTo>
                  <a:close/>
                </a:path>
              </a:pathLst>
            </a:custGeom>
            <a:solidFill>
              <a:srgbClr val="7A6B5D">
                <a:alpha val="15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33500" y="857250"/>
            <a:ext cx="1143000" cy="1143000"/>
            <a:chOff x="1333500" y="857250"/>
            <a:chExt cx="1143000" cy="1143000"/>
          </a:xfrm>
        </p:grpSpPr>
        <p:sp>
          <p:nvSpPr>
            <p:cNvPr id="7" name="Ellipse 7"/>
            <p:cNvSpPr/>
            <p:nvPr/>
          </p:nvSpPr>
          <p:spPr>
            <a:xfrm>
              <a:off x="1333500" y="857250"/>
              <a:ext cx="1143000" cy="1143000"/>
            </a:xfrm>
            <a:prstGeom prst="ellipse">
              <a:avLst/>
            </a:prstGeom>
            <a:noFill/>
            <a:ln w="19050">
              <a:solidFill>
                <a:srgbClr val="8B6914">
                  <a:alpha val="8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76375" y="1000125"/>
              <a:ext cx="857250" cy="857250"/>
            </a:xfrm>
            <a:prstGeom prst="ellipse">
              <a:avLst/>
            </a:prstGeom>
            <a:noFill/>
            <a:ln w="9525">
              <a:solidFill>
                <a:srgbClr val="8B6914">
                  <a:alpha val="8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619250" y="1143000"/>
              <a:ext cx="571500" cy="571500"/>
            </a:xfrm>
            <a:prstGeom prst="ellipse">
              <a:avLst/>
            </a:prstGeom>
            <a:noFill/>
            <a:ln w="4762">
              <a:solidFill>
                <a:srgbClr val="8B6914">
                  <a:alpha val="8000"/>
                </a:srgbClr>
              </a:solidFill>
            </a:ln>
          </p:spPr>
        </p:sp>
      </p:grpSp>
      <p:sp>
        <p:nvSpPr>
          <p:cNvPr id="11" name="Rectangle 11"/>
          <p:cNvSpPr/>
          <p:nvPr/>
        </p:nvSpPr>
        <p:spPr>
          <a:xfrm>
            <a:off x="4191000" y="1905000"/>
            <a:ext cx="3810000" cy="19050"/>
          </a:xfrm>
          <a:prstGeom prst="rect">
            <a:avLst/>
          </a:prstGeom>
          <a:gradFill>
            <a:gsLst>
              <a:gs pos="0">
                <a:srgbClr val="8B6914"/>
              </a:gs>
              <a:gs pos="50000">
                <a:srgbClr val="C4A35A"/>
              </a:gs>
              <a:gs pos="100000">
                <a:srgbClr val="8B6914"/>
              </a:gs>
            </a:gsLst>
            <a:lin ang="270000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759137" y="1988820"/>
            <a:ext cx="4673727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2C1810"/>
                </a:solidFill>
                <a:latin typeface="Times New Roman"/>
                <a:ea typeface="KaiTi"/>
                <a:cs typeface="Times New Roman"/>
              </a:rPr>
              <a:t>紫薯书法大成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17124" y="2916555"/>
            <a:ext cx="335775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7A6B5D"/>
                </a:solidFill>
                <a:latin typeface="Times New Roman"/>
                <a:ea typeface="SimSun"/>
                <a:cs typeface="Times New Roman"/>
              </a:rPr>
              <a:t>—— 贺紫薯书法艺术大成 ——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191000" y="3429000"/>
            <a:ext cx="3810000" cy="19050"/>
          </a:xfrm>
          <a:prstGeom prst="rect">
            <a:avLst/>
          </a:prstGeom>
          <a:gradFill>
            <a:gsLst>
              <a:gs pos="0">
                <a:srgbClr val="8B6914"/>
              </a:gs>
              <a:gs pos="50000">
                <a:srgbClr val="C4A35A"/>
              </a:gs>
              <a:gs pos="100000">
                <a:srgbClr val="8B6914"/>
              </a:gs>
            </a:gsLst>
            <a:lin ang="2700000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5524500" y="3810000"/>
            <a:ext cx="1143000" cy="1143000"/>
            <a:chOff x="5524500" y="3810000"/>
            <a:chExt cx="1143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5524500" y="3810000"/>
              <a:ext cx="1143000" cy="1143000"/>
            </a:xfrm>
            <a:prstGeom prst="rect">
              <a:avLst/>
            </a:prstGeom>
            <a:noFill/>
            <a:ln w="19050">
              <a:solidFill>
                <a:srgbClr val="C41E3A">
                  <a:alpha val="7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01665" y="4090035"/>
              <a:ext cx="78867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C41E3A">
                      <a:alphaMod val="80000"/>
                    </a:srgbClr>
                  </a:solidFill>
                  <a:latin typeface="Times New Roman"/>
                  <a:ea typeface="KaiTi"/>
                  <a:cs typeface="Times New Roman"/>
                </a:rPr>
                <a:t>大成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76250" y="5207000"/>
            <a:ext cx="11430000" cy="1047750"/>
          </a:xfrm>
          <a:custGeom>
            <a:avLst/>
            <a:gdLst/>
            <a:ahLst/>
            <a:cxnLst/>
            <a:rect l="l" t="t" r="r" b="b"/>
            <a:pathLst>
              <a:path w="11430000" h="1047750">
                <a:moveTo>
                  <a:pt x="0" y="508000"/>
                </a:moveTo>
                <a:cubicBezTo>
                  <a:pt x="317500" y="381000"/>
                  <a:pt x="793750" y="444500"/>
                  <a:pt x="1428750" y="698500"/>
                </a:cubicBezTo>
                <a:cubicBezTo>
                  <a:pt x="2063750" y="952500"/>
                  <a:pt x="2698750" y="889000"/>
                  <a:pt x="3333750" y="508000"/>
                </a:cubicBezTo>
                <a:cubicBezTo>
                  <a:pt x="3968750" y="127000"/>
                  <a:pt x="4603750" y="158750"/>
                  <a:pt x="5238750" y="603250"/>
                </a:cubicBezTo>
                <a:cubicBezTo>
                  <a:pt x="5873750" y="1047750"/>
                  <a:pt x="6508750" y="1016000"/>
                  <a:pt x="7143750" y="508000"/>
                </a:cubicBezTo>
                <a:cubicBezTo>
                  <a:pt x="7778750" y="0"/>
                  <a:pt x="8413750" y="0"/>
                  <a:pt x="9048750" y="508000"/>
                </a:cubicBezTo>
                <a:cubicBezTo>
                  <a:pt x="9683750" y="1016000"/>
                  <a:pt x="10318750" y="1047750"/>
                  <a:pt x="10953750" y="603250"/>
                </a:cubicBezTo>
                <a:lnTo>
                  <a:pt x="11430000" y="698500"/>
                </a:lnTo>
              </a:path>
            </a:pathLst>
          </a:custGeom>
          <a:noFill/>
          <a:ln w="28575">
            <a:solidFill>
              <a:srgbClr val="2C1810">
                <a:alpha val="6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588698" y="6061710"/>
            <a:ext cx="10146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E8E7E"/>
                </a:solidFill>
                <a:latin typeface="Times New Roman"/>
                <a:ea typeface="SimSun"/>
                <a:cs typeface="Times New Roman"/>
              </a:rPr>
              <a:t>甲辰年 · 六月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8DFD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28575" cy="762000"/>
          </a:xfrm>
          <a:prstGeom prst="rect">
            <a:avLst/>
          </a:prstGeom>
          <a:solidFill>
            <a:srgbClr val="C41E3A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62865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C1810"/>
                </a:solidFill>
                <a:latin typeface="Times New Roman"/>
                <a:ea typeface="KaiTi"/>
                <a:cs typeface="Times New Roman"/>
              </a:rPr>
              <a:t>书道精神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143000"/>
            <a:ext cx="11049000" cy="9525"/>
          </a:xfrm>
          <a:prstGeom prst="rect">
            <a:avLst/>
          </a:prstGeom>
          <a:gradFill>
            <a:gsLst>
              <a:gs pos="0">
                <a:srgbClr val="8B6914">
                  <a:alpha val="0"/>
                </a:srgbClr>
              </a:gs>
              <a:gs pos="50000">
                <a:srgbClr val="C4A35A"/>
              </a:gs>
              <a:gs pos="100000">
                <a:srgbClr val="8B6914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1112520" y="1455420"/>
            <a:ext cx="4464749" cy="1449705"/>
            <a:chOff x="1112520" y="1455420"/>
            <a:chExt cx="4464749" cy="1449705"/>
          </a:xfrm>
        </p:grpSpPr>
        <p:sp>
          <p:nvSpPr>
            <p:cNvPr id="6" name="TextBox 6"/>
            <p:cNvSpPr txBox="1"/>
            <p:nvPr/>
          </p:nvSpPr>
          <p:spPr>
            <a:xfrm>
              <a:off x="1112520" y="1455420"/>
              <a:ext cx="13411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墨池功深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027045" y="1536382"/>
              <a:ext cx="25502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A6B5D"/>
                  </a:solidFill>
                  <a:latin typeface="Times New Roman"/>
                  <a:ea typeface="SimSun"/>
                  <a:cs typeface="Times New Roman"/>
                </a:rPr>
                <a:t>—— 王羲之洗笔，池水尽墨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3950" y="2028825"/>
              <a:ext cx="4238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东晋书圣王羲之，七岁习书，每日于池边练字。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3950" y="23145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每写罢便在家门前池塘洗笔，天长日久，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3950" y="2600325"/>
              <a:ext cx="40586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一池清水竟化为墨色。后人称此池为"墨池"。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2520" y="2884170"/>
            <a:ext cx="4450080" cy="1449705"/>
            <a:chOff x="1112520" y="2884170"/>
            <a:chExt cx="4450080" cy="1449705"/>
          </a:xfrm>
        </p:grpSpPr>
        <p:sp>
          <p:nvSpPr>
            <p:cNvPr id="12" name="TextBox 12"/>
            <p:cNvSpPr txBox="1"/>
            <p:nvPr/>
          </p:nvSpPr>
          <p:spPr>
            <a:xfrm>
              <a:off x="1112520" y="2884170"/>
              <a:ext cx="13411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笔冢成山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27045" y="2965132"/>
              <a:ext cx="23301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A6B5D"/>
                  </a:solidFill>
                  <a:latin typeface="Times New Roman"/>
                  <a:ea typeface="SimSun"/>
                  <a:cs typeface="Times New Roman"/>
                </a:rPr>
                <a:t>—— 怀素秃笔，埋于山下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950" y="345757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唐代草圣怀素，因家贫无纸，种芭蕉以蕉叶代纸。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3950" y="3743325"/>
              <a:ext cx="403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经年累月，写秃的笔头堆积成山，埋于山下，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950" y="4029075"/>
              <a:ext cx="38785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人称"笔冢"。智永禅师亦有"退笔冢"传世。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143000" y="4762500"/>
            <a:ext cx="28575" cy="571500"/>
          </a:xfrm>
          <a:prstGeom prst="rect">
            <a:avLst/>
          </a:prstGeom>
          <a:solidFill>
            <a:srgbClr val="C41E3A">
              <a:alpha val="4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63015" y="4949190"/>
            <a:ext cx="2205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B6914"/>
                </a:solidFill>
                <a:latin typeface="Times New Roman"/>
                <a:ea typeface="KaiTi"/>
                <a:cs typeface="Times New Roman"/>
              </a:rPr>
              <a:t>锲而不舍，金石可镂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7260" y="5013960"/>
            <a:ext cx="12146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A6B5D"/>
                </a:solidFill>
                <a:latin typeface="Times New Roman"/>
                <a:ea typeface="SimSun"/>
                <a:cs typeface="Times New Roman"/>
              </a:rPr>
              <a:t>—— 荀子《劝学》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57106" y="61731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E8E7E"/>
                </a:solidFill>
                <a:latin typeface="Times New Roman"/>
                <a:ea typeface="SimSun"/>
                <a:cs typeface="Times New Roman"/>
              </a:rPr>
              <a:t>02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8DFD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28575" cy="762000"/>
          </a:xfrm>
          <a:prstGeom prst="rect">
            <a:avLst/>
          </a:prstGeom>
          <a:solidFill>
            <a:srgbClr val="C41E3A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62865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C1810"/>
                </a:solidFill>
                <a:latin typeface="Times New Roman"/>
                <a:ea typeface="KaiTi"/>
                <a:cs typeface="Times New Roman"/>
              </a:rPr>
              <a:t>翰墨因缘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7045" y="774382"/>
            <a:ext cx="14500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A6B5D"/>
                </a:solidFill>
                <a:latin typeface="Times New Roman"/>
                <a:ea typeface="SimSun"/>
                <a:cs typeface="Times New Roman"/>
              </a:rPr>
              <a:t>—— 贺书法大成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11049000" cy="9525"/>
          </a:xfrm>
          <a:prstGeom prst="rect">
            <a:avLst/>
          </a:prstGeom>
          <a:gradFill>
            <a:gsLst>
              <a:gs pos="0">
                <a:srgbClr val="8B6914">
                  <a:alpha val="0"/>
                </a:srgbClr>
              </a:gs>
              <a:gs pos="50000">
                <a:srgbClr val="C4A35A"/>
              </a:gs>
              <a:gs pos="100000">
                <a:srgbClr val="8B6914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1143000" y="1714500"/>
            <a:ext cx="3048000" cy="1714500"/>
            <a:chOff x="1143000" y="1714500"/>
            <a:chExt cx="3048000" cy="1714500"/>
          </a:xfrm>
        </p:grpSpPr>
        <p:sp>
          <p:nvSpPr>
            <p:cNvPr id="7" name="Rectangle 7"/>
            <p:cNvSpPr/>
            <p:nvPr/>
          </p:nvSpPr>
          <p:spPr>
            <a:xfrm>
              <a:off x="1143000" y="1714500"/>
              <a:ext cx="3048000" cy="1714500"/>
            </a:xfrm>
            <a:prstGeom prst="roundRect">
              <a:avLst>
                <a:gd name="adj" fmla="val 2222"/>
              </a:avLst>
            </a:prstGeom>
            <a:noFill/>
            <a:ln w="9525">
              <a:solidFill>
                <a:srgbClr val="C4B5A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43000" y="1714500"/>
              <a:ext cx="3048000" cy="381000"/>
            </a:xfrm>
            <a:prstGeom prst="roundRect">
              <a:avLst>
                <a:gd name="adj" fmla="val 10000"/>
              </a:avLst>
            </a:prstGeom>
            <a:solidFill>
              <a:srgbClr val="2C1810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16004" y="1784032"/>
              <a:ext cx="7019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贺学语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0260" y="215455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百尺竿头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9810" y="25688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更进一步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19669" y="296608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6B5D"/>
                  </a:solidFill>
                  <a:latin typeface="Times New Roman"/>
                  <a:ea typeface="SimSun"/>
                  <a:cs typeface="Times New Roman"/>
                </a:rPr>
                <a:t>墨池功深 · 笔冢成山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0" y="1714500"/>
            <a:ext cx="3048000" cy="1714500"/>
            <a:chOff x="4572000" y="1714500"/>
            <a:chExt cx="3048000" cy="1714500"/>
          </a:xfrm>
        </p:grpSpPr>
        <p:sp>
          <p:nvSpPr>
            <p:cNvPr id="14" name="Rectangle 14"/>
            <p:cNvSpPr/>
            <p:nvPr/>
          </p:nvSpPr>
          <p:spPr>
            <a:xfrm>
              <a:off x="4572000" y="1714500"/>
              <a:ext cx="3048000" cy="1714500"/>
            </a:xfrm>
            <a:prstGeom prst="roundRect">
              <a:avLst>
                <a:gd name="adj" fmla="val 2222"/>
              </a:avLst>
            </a:prstGeom>
            <a:noFill/>
            <a:ln w="9525">
              <a:solidFill>
                <a:srgbClr val="C4B5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72000" y="1714500"/>
              <a:ext cx="3048000" cy="381000"/>
            </a:xfrm>
            <a:prstGeom prst="roundRect">
              <a:avLst>
                <a:gd name="adj" fmla="val 10000"/>
              </a:avLst>
            </a:prstGeom>
            <a:solidFill>
              <a:srgbClr val="2C1810">
                <a:alpha val="8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45004" y="1784032"/>
              <a:ext cx="7019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贺艺语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09260" y="215455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登峰造极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18810" y="25688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出神入化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48668" y="296608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6B5D"/>
                  </a:solidFill>
                  <a:latin typeface="Times New Roman"/>
                  <a:ea typeface="SimSun"/>
                  <a:cs typeface="Times New Roman"/>
                </a:rPr>
                <a:t>行云流水 · 入木三分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714500"/>
            <a:ext cx="3048000" cy="1714500"/>
            <a:chOff x="8001000" y="1714500"/>
            <a:chExt cx="3048000" cy="1714500"/>
          </a:xfrm>
        </p:grpSpPr>
        <p:sp>
          <p:nvSpPr>
            <p:cNvPr id="21" name="Rectangle 21"/>
            <p:cNvSpPr/>
            <p:nvPr/>
          </p:nvSpPr>
          <p:spPr>
            <a:xfrm>
              <a:off x="8001000" y="1714500"/>
              <a:ext cx="3048000" cy="1714500"/>
            </a:xfrm>
            <a:prstGeom prst="roundRect">
              <a:avLst>
                <a:gd name="adj" fmla="val 2222"/>
              </a:avLst>
            </a:prstGeom>
            <a:noFill/>
            <a:ln w="9525">
              <a:solidFill>
                <a:srgbClr val="C4B5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01000" y="1714500"/>
              <a:ext cx="3048000" cy="381000"/>
            </a:xfrm>
            <a:prstGeom prst="roundRect">
              <a:avLst>
                <a:gd name="adj" fmla="val 10000"/>
              </a:avLst>
            </a:prstGeom>
            <a:solidFill>
              <a:srgbClr val="2C1810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004" y="1784032"/>
              <a:ext cx="7019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贺德语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38260" y="215455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厚德载物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47810" y="25688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锲而不舍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77668" y="296608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6B5D"/>
                  </a:solidFill>
                  <a:latin typeface="Times New Roman"/>
                  <a:ea typeface="SimSun"/>
                  <a:cs typeface="Times New Roman"/>
                </a:rPr>
                <a:t>金石可镂 · 天道酬勤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4000500"/>
            <a:ext cx="9906000" cy="1524000"/>
            <a:chOff x="1143000" y="4000500"/>
            <a:chExt cx="9906000" cy="1524000"/>
          </a:xfrm>
        </p:grpSpPr>
        <p:sp>
          <p:nvSpPr>
            <p:cNvPr id="28" name="Rectangle 28"/>
            <p:cNvSpPr/>
            <p:nvPr/>
          </p:nvSpPr>
          <p:spPr>
            <a:xfrm>
              <a:off x="1143000" y="4000500"/>
              <a:ext cx="9906000" cy="1524000"/>
            </a:xfrm>
            <a:prstGeom prst="roundRect">
              <a:avLst>
                <a:gd name="adj" fmla="val 2500"/>
              </a:avLst>
            </a:prstGeom>
            <a:solidFill>
              <a:srgbClr val="F5F0E8">
                <a:alpha val="80000"/>
              </a:srgbClr>
            </a:solidFill>
            <a:ln w="9525">
              <a:solidFill>
                <a:srgbClr val="C4B5A0">
                  <a:alpha val="8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43000" y="4000500"/>
              <a:ext cx="9906000" cy="381000"/>
            </a:xfrm>
            <a:prstGeom prst="roundRect">
              <a:avLst>
                <a:gd name="adj" fmla="val 10000"/>
              </a:avLst>
            </a:prstGeom>
            <a:solidFill>
              <a:srgbClr val="C41E3A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45004" y="4070032"/>
              <a:ext cx="7019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祝颂语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32108" y="4519612"/>
              <a:ext cx="5127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翰墨因缘 艺海无涯 福寿康宁 翰墨长青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98608" y="5045392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愿紫薯在书法艺术的道路上，笔耕不辍，再上层楼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757106" y="61731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E8E7E"/>
                </a:solidFill>
                <a:latin typeface="Times New Roman"/>
                <a:ea typeface="SimSun"/>
                <a:cs typeface="Times New Roman"/>
              </a:rPr>
              <a:t>03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100000">
                <a:srgbClr val="E8DFD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476250"/>
            <a:ext cx="28575" cy="762000"/>
          </a:xfrm>
          <a:prstGeom prst="rect">
            <a:avLst/>
          </a:prstGeom>
          <a:solidFill>
            <a:srgbClr val="C41E3A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62865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C1810"/>
                </a:solidFill>
                <a:latin typeface="Times New Roman"/>
                <a:ea typeface="KaiTi"/>
                <a:cs typeface="Times New Roman"/>
              </a:rPr>
              <a:t>紫气东来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46045" y="77438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A6B5D"/>
                </a:solidFill>
                <a:latin typeface="Times New Roman"/>
                <a:ea typeface="SimSun"/>
                <a:cs typeface="Times New Roman"/>
              </a:rPr>
              <a:t>—— 紫薯的书法之路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11049000" cy="9525"/>
          </a:xfrm>
          <a:prstGeom prst="rect">
            <a:avLst/>
          </a:prstGeom>
          <a:gradFill>
            <a:gsLst>
              <a:gs pos="0">
                <a:srgbClr val="8B6914">
                  <a:alpha val="0"/>
                </a:srgbClr>
              </a:gs>
              <a:gs pos="50000">
                <a:srgbClr val="C4A35A"/>
              </a:gs>
              <a:gs pos="100000">
                <a:srgbClr val="8B6914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143000" y="1714500"/>
            <a:ext cx="3924300" cy="1004888"/>
            <a:chOff x="1143000" y="1714500"/>
            <a:chExt cx="3924300" cy="1004888"/>
          </a:xfrm>
        </p:grpSpPr>
        <p:sp>
          <p:nvSpPr>
            <p:cNvPr id="7" name="Ellipse 7"/>
            <p:cNvSpPr/>
            <p:nvPr/>
          </p:nvSpPr>
          <p:spPr>
            <a:xfrm>
              <a:off x="1143000" y="1714500"/>
              <a:ext cx="457200" cy="457200"/>
            </a:xfrm>
            <a:prstGeom prst="ellipse">
              <a:avLst/>
            </a:prstGeom>
            <a:solidFill>
              <a:srgbClr val="C41E3A">
                <a:alpha val="1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5131" y="1822132"/>
              <a:ext cx="2729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86890" y="18059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初识笔墨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92605" y="2187892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从第一次握笔，到写出第一个完整的字，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2605" y="2445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笔墨之间，便结下了不解之缘。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3000" y="2857500"/>
            <a:ext cx="3564255" cy="1004888"/>
            <a:chOff x="1143000" y="2857500"/>
            <a:chExt cx="3564255" cy="1004888"/>
          </a:xfrm>
        </p:grpSpPr>
        <p:sp>
          <p:nvSpPr>
            <p:cNvPr id="13" name="Ellipse 13"/>
            <p:cNvSpPr/>
            <p:nvPr/>
          </p:nvSpPr>
          <p:spPr>
            <a:xfrm>
              <a:off x="1143000" y="2857500"/>
              <a:ext cx="457200" cy="457200"/>
            </a:xfrm>
            <a:prstGeom prst="ellipse">
              <a:avLst/>
            </a:prstGeom>
            <a:solidFill>
              <a:srgbClr val="C41E3A">
                <a:alpha val="1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35131" y="2965132"/>
              <a:ext cx="2729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86890" y="29489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寒暑不辍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2605" y="3330892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多少个日夜，在书桌前挥毫泼墨，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2605" y="35880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每一笔都是坚持，每一划都是热爱。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3000" y="4000500"/>
            <a:ext cx="3744278" cy="1004888"/>
            <a:chOff x="1143000" y="4000500"/>
            <a:chExt cx="3744278" cy="1004888"/>
          </a:xfrm>
        </p:grpSpPr>
        <p:sp>
          <p:nvSpPr>
            <p:cNvPr id="19" name="Ellipse 19"/>
            <p:cNvSpPr/>
            <p:nvPr/>
          </p:nvSpPr>
          <p:spPr>
            <a:xfrm>
              <a:off x="1143000" y="4000500"/>
              <a:ext cx="457200" cy="457200"/>
            </a:xfrm>
            <a:prstGeom prst="ellipse">
              <a:avLst/>
            </a:prstGeom>
            <a:solidFill>
              <a:srgbClr val="C41E3A">
                <a:alpha val="15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35131" y="4108132"/>
              <a:ext cx="2729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1E3A"/>
                  </a:solidFill>
                  <a:latin typeface="Times New Roman"/>
                  <a:ea typeface="KaiTi"/>
                  <a:cs typeface="Times New Roman"/>
                </a:rPr>
                <a:t>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6890" y="40919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终成大器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2605" y="4473892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墨池功深，笔冢成山，今日终得大成。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92605" y="47310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这是对你多年坚持最好的回报。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43000" y="5143500"/>
            <a:ext cx="3924300" cy="1004888"/>
            <a:chOff x="1143000" y="5143500"/>
            <a:chExt cx="3924300" cy="1004888"/>
          </a:xfrm>
        </p:grpSpPr>
        <p:sp>
          <p:nvSpPr>
            <p:cNvPr id="25" name="Ellipse 25"/>
            <p:cNvSpPr/>
            <p:nvPr/>
          </p:nvSpPr>
          <p:spPr>
            <a:xfrm>
              <a:off x="1143000" y="5143500"/>
              <a:ext cx="457200" cy="457200"/>
            </a:xfrm>
            <a:prstGeom prst="ellipse">
              <a:avLst/>
            </a:prstGeom>
            <a:solidFill>
              <a:srgbClr val="8B6914">
                <a:alpha val="1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5131" y="5251132"/>
              <a:ext cx="2729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914"/>
                  </a:solidFill>
                  <a:latin typeface="Times New Roman"/>
                  <a:ea typeface="KaiTi"/>
                  <a:cs typeface="Times New Roman"/>
                </a:rPr>
                <a:t>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86890" y="523494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C1810"/>
                  </a:solidFill>
                  <a:latin typeface="Times New Roman"/>
                  <a:ea typeface="KaiTi"/>
                  <a:cs typeface="Times New Roman"/>
                </a:rPr>
                <a:t>未来可期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92605" y="5616892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百尺竿头须进步，十方世界是全身。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92605" y="58740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C2415"/>
                  </a:solidFill>
                  <a:latin typeface="Times New Roman"/>
                  <a:ea typeface="SimSun"/>
                  <a:cs typeface="Times New Roman"/>
                </a:rPr>
                <a:t>期待紫薯在书法艺术上继续攀登新高峰。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757106" y="61731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E8E7E"/>
                </a:solidFill>
                <a:latin typeface="Times New Roman"/>
                <a:ea typeface="SimSun"/>
                <a:cs typeface="Times New Roman"/>
              </a:rPr>
              <a:t>04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0E8"/>
              </a:gs>
              <a:gs pos="50000">
                <a:srgbClr val="EDE4D4"/>
              </a:gs>
              <a:gs pos="100000">
                <a:srgbClr val="D4C5A9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4159250"/>
            <a:ext cx="10953750" cy="1555750"/>
            <a:chOff x="476250" y="4159250"/>
            <a:chExt cx="10953750" cy="1555750"/>
          </a:xfrm>
        </p:grpSpPr>
        <p:sp>
          <p:nvSpPr>
            <p:cNvPr id="3" name="Freeform 3"/>
            <p:cNvSpPr/>
            <p:nvPr/>
          </p:nvSpPr>
          <p:spPr>
            <a:xfrm>
              <a:off x="952500" y="4159250"/>
              <a:ext cx="10477500" cy="1238250"/>
            </a:xfrm>
            <a:custGeom>
              <a:avLst/>
              <a:gdLst/>
              <a:ahLst/>
              <a:cxnLst/>
              <a:rect l="l" t="t" r="r" b="b"/>
              <a:pathLst>
                <a:path w="10477500" h="1238250">
                  <a:moveTo>
                    <a:pt x="0" y="603250"/>
                  </a:moveTo>
                  <a:cubicBezTo>
                    <a:pt x="1270000" y="285750"/>
                    <a:pt x="2540000" y="349250"/>
                    <a:pt x="3810000" y="793750"/>
                  </a:cubicBezTo>
                  <a:cubicBezTo>
                    <a:pt x="5080000" y="1238250"/>
                    <a:pt x="6350000" y="1174750"/>
                    <a:pt x="7620000" y="603250"/>
                  </a:cubicBezTo>
                  <a:cubicBezTo>
                    <a:pt x="8890000" y="31750"/>
                    <a:pt x="9842500" y="0"/>
                    <a:pt x="10477500" y="508000"/>
                  </a:cubicBezTo>
                </a:path>
              </a:pathLst>
            </a:custGeom>
            <a:noFill/>
            <a:ln w="38100">
              <a:solidFill>
                <a:srgbClr val="2C1810">
                  <a:alpha val="6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476250" y="4603750"/>
              <a:ext cx="10477500" cy="1111250"/>
            </a:xfrm>
            <a:custGeom>
              <a:avLst/>
              <a:gdLst/>
              <a:ahLst/>
              <a:cxnLst/>
              <a:rect l="l" t="t" r="r" b="b"/>
              <a:pathLst>
                <a:path w="10477500" h="1111250">
                  <a:moveTo>
                    <a:pt x="0" y="635000"/>
                  </a:moveTo>
                  <a:cubicBezTo>
                    <a:pt x="952500" y="317500"/>
                    <a:pt x="2063750" y="349250"/>
                    <a:pt x="3333750" y="730250"/>
                  </a:cubicBezTo>
                  <a:cubicBezTo>
                    <a:pt x="4603750" y="1111250"/>
                    <a:pt x="5873750" y="1047750"/>
                    <a:pt x="7143750" y="539750"/>
                  </a:cubicBezTo>
                  <a:cubicBezTo>
                    <a:pt x="8413750" y="31750"/>
                    <a:pt x="9525000" y="0"/>
                    <a:pt x="10477500" y="444500"/>
                  </a:cubicBezTo>
                </a:path>
              </a:pathLst>
            </a:custGeom>
            <a:noFill/>
            <a:ln w="19050">
              <a:solidFill>
                <a:srgbClr val="2C1810">
                  <a:alpha val="6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143500" y="1428750"/>
            <a:ext cx="1905000" cy="1905000"/>
            <a:chOff x="5143500" y="1428750"/>
            <a:chExt cx="1905000" cy="1905000"/>
          </a:xfrm>
        </p:grpSpPr>
        <p:sp>
          <p:nvSpPr>
            <p:cNvPr id="6" name="Ellipse 6"/>
            <p:cNvSpPr/>
            <p:nvPr/>
          </p:nvSpPr>
          <p:spPr>
            <a:xfrm>
              <a:off x="5143500" y="1428750"/>
              <a:ext cx="1905000" cy="1905000"/>
            </a:xfrm>
            <a:prstGeom prst="ellipse">
              <a:avLst/>
            </a:prstGeom>
            <a:noFill/>
            <a:ln w="14288">
              <a:solidFill>
                <a:srgbClr val="8B6914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381625" y="1666875"/>
              <a:ext cx="1428750" cy="1428750"/>
            </a:xfrm>
            <a:prstGeom prst="ellipse">
              <a:avLst/>
            </a:prstGeom>
            <a:noFill/>
            <a:ln w="9525">
              <a:solidFill>
                <a:srgbClr val="8B6914">
                  <a:alpha val="8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619750" y="1905000"/>
              <a:ext cx="952500" cy="952500"/>
            </a:xfrm>
            <a:prstGeom prst="ellipse">
              <a:avLst/>
            </a:prstGeom>
            <a:noFill/>
            <a:ln w="4762">
              <a:solidFill>
                <a:srgbClr val="8B6914">
                  <a:alpha val="8000"/>
                </a:srgbClr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042154" y="218313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2C1810"/>
                </a:solidFill>
                <a:latin typeface="Times New Roman"/>
                <a:ea typeface="KaiTi"/>
                <a:cs typeface="Times New Roman"/>
              </a:rPr>
              <a:t>福寿康宁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2809875"/>
            <a:ext cx="3810000" cy="19050"/>
          </a:xfrm>
          <a:prstGeom prst="rect">
            <a:avLst/>
          </a:prstGeom>
          <a:gradFill>
            <a:gsLst>
              <a:gs pos="0">
                <a:srgbClr val="8B6914"/>
              </a:gs>
              <a:gs pos="50000">
                <a:srgbClr val="D4A843"/>
              </a:gs>
              <a:gs pos="100000">
                <a:srgbClr val="8B6914"/>
              </a:gs>
            </a:gsLst>
            <a:lin ang="270000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75003" y="2948940"/>
            <a:ext cx="224199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7A6B5D"/>
                </a:solidFill>
                <a:latin typeface="Times New Roman"/>
                <a:ea typeface="SimSun"/>
                <a:cs typeface="Times New Roman"/>
              </a:rPr>
              <a:t>翰墨长青 · 艺无止境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6812" y="355282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C2415"/>
                </a:solidFill>
                <a:latin typeface="Times New Roman"/>
                <a:ea typeface="SimSun"/>
                <a:cs typeface="Times New Roman"/>
              </a:rPr>
              <a:t>愿紫薯在书法的世界里，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76825" y="383857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C2415"/>
                </a:solidFill>
                <a:latin typeface="Times New Roman"/>
                <a:ea typeface="SimSun"/>
                <a:cs typeface="Times New Roman"/>
              </a:rPr>
              <a:t>笔锋所至，皆是风景；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76825" y="412432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C2415"/>
                </a:solidFill>
                <a:latin typeface="Times New Roman"/>
                <a:ea typeface="SimSun"/>
                <a:cs typeface="Times New Roman"/>
              </a:rPr>
              <a:t>墨香所及，皆有欢喜。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14825" y="4774882"/>
            <a:ext cx="35623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B6914"/>
                </a:solidFill>
                <a:latin typeface="Times New Roman"/>
                <a:ea typeface="KaiTi"/>
                <a:cs typeface="Times New Roman"/>
              </a:rPr>
              <a:t>愿书法之路，越走越宽，越走越远。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048250" y="5524500"/>
            <a:ext cx="2095500" cy="400050"/>
            <a:chOff x="5048250" y="5524500"/>
            <a:chExt cx="2095500" cy="400050"/>
          </a:xfrm>
        </p:grpSpPr>
        <p:sp>
          <p:nvSpPr>
            <p:cNvPr id="17" name="Rectangle 17"/>
            <p:cNvSpPr/>
            <p:nvPr/>
          </p:nvSpPr>
          <p:spPr>
            <a:xfrm>
              <a:off x="5048250" y="5524500"/>
              <a:ext cx="2095500" cy="19050"/>
            </a:xfrm>
            <a:prstGeom prst="rect">
              <a:avLst/>
            </a:prstGeom>
            <a:gradFill>
              <a:gsLst>
                <a:gs pos="0">
                  <a:srgbClr val="8B6914"/>
                </a:gs>
                <a:gs pos="50000">
                  <a:srgbClr val="D4A843"/>
                </a:gs>
                <a:gs pos="100000">
                  <a:srgbClr val="8B6914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20652" y="5680710"/>
              <a:ext cx="1750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E8E7E"/>
                  </a:solidFill>
                  <a:latin typeface="Times New Roman"/>
                  <a:ea typeface="SimSun"/>
                  <a:cs typeface="Times New Roman"/>
                </a:rPr>
                <a:t>—— 2026 年 6 月 谨贺 ——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757106" y="61731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E8E7E"/>
                </a:solidFill>
                <a:latin typeface="Times New Roman"/>
                <a:ea typeface="SimSun"/>
                <a:cs typeface="Times New Roman"/>
              </a:rPr>
              <a:t>05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2026-06-12T07:29:03Z</dcterms:created>
  <dcterms:modified xsi:type="dcterms:W3CDTF">2026-06-12T07:29:03Z</dcterms:modified>
  <cp:category/>
  <cp:contentStatus/>
</cp:coreProperties>
</file>